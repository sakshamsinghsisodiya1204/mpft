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15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7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Goodput vs number of paths (Mbit/s)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Goodput (Mbit/s)</c:v>
                </c:pt>
              </c:strCache>
            </c:strRef>
          </c:tx>
          <c:spPr>
            <a:solidFill>
              <a:srgbClr val="1B6B73"/>
            </a:solidFill>
          </c:spPr>
          <c:cat>
            <c:strRef>
              <c:f>Sheet1!$A$2:$A$5</c:f>
              <c:strCache>
                <c:ptCount val="4"/>
                <c:pt idx="0">
                  <c:v>1 path</c:v>
                </c:pt>
                <c:pt idx="1">
                  <c:v>2 paths</c:v>
                </c:pt>
                <c:pt idx="2">
                  <c:v>4 paths</c:v>
                </c:pt>
                <c:pt idx="3">
                  <c:v>8 paths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23.0</c:v>
                </c:pt>
                <c:pt idx="1">
                  <c:v>45.5</c:v>
                </c:pt>
                <c:pt idx="2">
                  <c:v>89.2</c:v>
                </c:pt>
                <c:pt idx="3">
                  <c:v>171.9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project and group (15 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TCP connection uses one path and restarts from zero. MPFT splits a file into chunks over parallel TCP paths, verifies integrity, survives failures and resumes (40 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Sender, receiver and emulated paths; own 20-byte header with CRC; SHA-256 per chunk and for the whole file (45 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Paths pull chunks from a shared queue, so faster paths carry more. A failed chunk goes back to the queue ahead of fresh ones (55 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Goodput scales from 23 to 172 Mbit/s with 8 paths; a killed path is recovered in 0.15 s; corruption is repaired by retransmission (50 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Live demo with a path dying mid-transfer (65 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Summarise outcome, limits (emulated, stop-and-wait), future work, contributions and AI use (30 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Backup slide.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session, two roles: sender sees delivery, receiver sees verification and Download. Pick a scenario in the Send form to show success and failure (35 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83E6C0E-ADFD-47F0-B7F1-423099F44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90800"/>
            <a:ext cx="73152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3EB337C-CD4A-4141-BBA0-4CF2780A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771900"/>
            <a:ext cx="64008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0CEB062-0151-4898-8FC4-ABE35F2C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57500"/>
            <a:ext cx="73152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25DF88-F753-4FDF-A6BB-A67DF0BF4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508D27C-B9C0-4675-8275-8B25BF40C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81153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00FAA36-2918-458A-BCC9-C02C5C86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3166FA6-9A32-40D5-BFFD-76D047ADC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63F08DB-F5FB-439D-8043-D5B97093E1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577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3733861-E5E8-4C0E-85FF-C9C377F03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18B774-926B-4AA9-BD18-2D17BAA20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F37A30E-D1A0-430A-8AA0-F979BB940400}"/>
              </a:ext>
            </a:extLst>
          </p:cNvPr>
          <p:cNvSpPr>
            <a:spLocks noGrp="1"/>
          </p:cNvSpPr>
          <p:nvPr/>
        </p:nvSpPr>
        <p:spPr>
          <a:xfrm>
            <a:off x="523875" y="152400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spcAft>
                <a:spcPts val="400"/>
              </a:spcAft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20375C"/>
                </a:solidFill>
                <a:latin typeface="Arial"/>
              </a:rPr>
              <a:t>MPFT:</a:t>
            </a:r>
            <a:r>
              <a:rPr sz="2800" b="0">
                <a:solidFill>
                  <a:srgbClr val="20375C"/>
                </a:solidFill>
                <a:latin typeface="Arial"/>
              </a:rPr>
              <a:t> Multipath Reliable File Transfer over Parallel TCP Paths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949E34-4B5B-4562-AC62-5E3AE182E6D9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88D55E-1711-439B-B044-BD320AA1699C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15 seconds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500DC7-A09E-49E5-9BD7-7620F6452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16647" y="349624"/>
            <a:ext cx="3310706" cy="952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8C27AC-3417-4BF8-804F-DF5A87976EC8}"/>
              </a:ext>
            </a:extLst>
          </p:cNvPr>
          <p:cNvSpPr>
            <a:spLocks noGrp="1"/>
          </p:cNvSpPr>
          <p:nvPr/>
        </p:nvSpPr>
        <p:spPr>
          <a:xfrm>
            <a:off x="523875" y="26670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Mini-project presentation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26C341-1A4C-494A-8571-B519D932EFAE}"/>
              </a:ext>
            </a:extLst>
          </p:cNvPr>
          <p:cNvSpPr>
            <a:spLocks noGrp="1"/>
          </p:cNvSpPr>
          <p:nvPr/>
        </p:nvSpPr>
        <p:spPr>
          <a:xfrm>
            <a:off x="523875" y="31432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Computer Networks Laboratory (CSE20110)</a:t>
            </a:r>
          </a:p>
          <a:p>
            <a:pPr algn="ctr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Department of Computer Engineering and Technology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DF9F57-7481-43AF-90EA-1B438F83D4AC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8096250" cy="10358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spcAft>
                <a:spcPts val="200"/>
              </a:spcAft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202020"/>
                </a:solidFill>
                <a:latin typeface="Arial"/>
              </a:rPr>
              <a:t>Saksham Singh Sisodiya</a:t>
            </a:r>
            <a:r>
              <a:rPr sz="1700" b="0">
                <a:solidFill>
                  <a:srgbClr val="202020"/>
                </a:solidFill>
                <a:latin typeface="Arial"/>
              </a:rPr>
              <a:t> – PRN 1262242908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202020"/>
                </a:solidFill>
                <a:latin typeface="Arial"/>
              </a:rPr>
              <a:t>Parth Dande</a:t>
            </a:r>
            <a:r>
              <a:rPr sz="1700" b="0">
                <a:solidFill>
                  <a:srgbClr val="202020"/>
                </a:solidFill>
                <a:latin typeface="Arial"/>
              </a:rPr>
              <a:t> – PRN 1262242629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202020"/>
                </a:solidFill>
                <a:latin typeface="Arial"/>
              </a:rPr>
              <a:t>Anupria Gupta</a:t>
            </a:r>
            <a:r>
              <a:rPr sz="1700" b="0">
                <a:solidFill>
                  <a:srgbClr val="202020"/>
                </a:solidFill>
                <a:latin typeface="Arial"/>
              </a:rPr>
              <a:t> – PRN 1262241349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BBC233-AAC0-44C2-84CB-E2C2B90BE7A7}"/>
              </a:ext>
            </a:extLst>
          </p:cNvPr>
          <p:cNvSpPr>
            <a:spLocks noGrp="1"/>
          </p:cNvSpPr>
          <p:nvPr/>
        </p:nvSpPr>
        <p:spPr>
          <a:xfrm>
            <a:off x="523875" y="5245875"/>
            <a:ext cx="8096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spcAft>
                <a:spcPts val="200"/>
              </a:spcAft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</a:rPr>
              <a:t>Group </a:t>
            </a:r>
            <a:r>
              <a:rPr sz="1500" b="0">
                <a:solidFill>
                  <a:srgbClr val="C00000"/>
                </a:solidFill>
                <a:latin typeface="Arial"/>
              </a:rPr>
              <a:t>[No.]</a:t>
            </a:r>
            <a:r>
              <a:rPr sz="1500" b="0">
                <a:solidFill>
                  <a:srgbClr val="202020"/>
                </a:solidFill>
                <a:latin typeface="Arial"/>
              </a:rPr>
              <a:t>   Panel </a:t>
            </a:r>
            <a:r>
              <a:rPr sz="1500" b="0">
                <a:solidFill>
                  <a:srgbClr val="C00000"/>
                </a:solidFill>
                <a:latin typeface="Arial"/>
              </a:rPr>
              <a:t>[PANEL]</a:t>
            </a:r>
            <a:r>
              <a:rPr sz="1500" b="0">
                <a:solidFill>
                  <a:srgbClr val="202020"/>
                </a:solidFill>
                <a:latin typeface="Arial"/>
              </a:rPr>
              <a:t>   Batch </a:t>
            </a:r>
            <a:r>
              <a:rPr sz="1500" b="0">
                <a:solidFill>
                  <a:srgbClr val="C00000"/>
                </a:solidFill>
                <a:latin typeface="Arial"/>
              </a:rPr>
              <a:t>[Batch]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02020"/>
                </a:solidFill>
                <a:latin typeface="Arial"/>
              </a:rPr>
              <a:t>Faculty: </a:t>
            </a:r>
            <a:r>
              <a:rPr sz="1500" b="1">
                <a:solidFill>
                  <a:srgbClr val="202020"/>
                </a:solidFill>
                <a:latin typeface="Arial"/>
              </a:rPr>
              <a:t>Dr. Priti Chakurkar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02020"/>
                </a:solidFill>
                <a:latin typeface="Arial"/>
              </a:rPr>
              <a:t>Academic Year: 2026–2027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02020"/>
                </a:solidFill>
                <a:latin typeface="Arial"/>
              </a:rPr>
              <a:t>Presentation date: </a:t>
            </a:r>
            <a:r>
              <a:rPr sz="1500" b="0">
                <a:solidFill>
                  <a:srgbClr val="C00000"/>
                </a:solidFill>
                <a:latin typeface="Arial"/>
              </a:rPr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69022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8AF3E2-B0A1-48D7-8AAD-58C1AE49894A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Problem and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261110-3343-453F-B653-F85F3964BEA3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034558-8083-4762-B500-1F5F6BD4A1F3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40 seconds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1280160"/>
            <a:ext cx="8092440" cy="160020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8988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B6B73"/>
                </a:solidFill>
                <a:latin typeface="Arial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7680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Arial"/>
              </a:rPr>
              <a:t>One TCP connection uses one network path and starts again from zero if it breaks, so extra links sit idle and a lost connection wastes the whole transfer </a:t>
            </a:r>
            <a:r>
              <a:rPr sz="1500" b="0">
                <a:solidFill>
                  <a:srgbClr val="202020"/>
                </a:solidFill>
                <a:latin typeface="Arial"/>
              </a:rPr>
              <a:t>[1]</a:t>
            </a:r>
            <a:r>
              <a:rPr sz="1500" b="0">
                <a:solidFill>
                  <a:srgbClr val="202020"/>
                </a:solidFill>
                <a:latin typeface="Arial"/>
              </a:rPr>
              <a:t>[2]</a:t>
            </a:r>
            <a:r>
              <a:rPr sz="1500" b="0">
                <a:solidFill>
                  <a:srgbClr val="202020"/>
                </a:solidFill>
                <a:latin typeface="Arial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02020"/>
                </a:solidFill>
                <a:latin typeface="Arial"/>
              </a:rPr>
              <a:t>Users:</a:t>
            </a:r>
            <a:r>
              <a:rPr sz="1500" b="0">
                <a:solidFill>
                  <a:srgbClr val="202020"/>
                </a:solidFill>
                <a:latin typeface="Arial"/>
              </a:rPr>
              <a:t> anyone moving large files between hosts with several links.  </a:t>
            </a:r>
            <a:r>
              <a:rPr sz="1500" b="1">
                <a:solidFill>
                  <a:srgbClr val="202020"/>
                </a:solidFill>
                <a:latin typeface="Arial"/>
              </a:rPr>
              <a:t>Scope:</a:t>
            </a:r>
            <a:r>
              <a:rPr sz="1500" b="0">
                <a:solidFill>
                  <a:srgbClr val="202020"/>
                </a:solidFill>
                <a:latin typeface="Arial"/>
              </a:rPr>
              <a:t> one file, one sender, one receiver, emulated paths on one machine.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3108960"/>
            <a:ext cx="8092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B6B73"/>
                </a:solidFill>
                <a:latin typeface="Arial"/>
              </a:rPr>
              <a:t>OBJECTIVES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7" y="3474720"/>
            <a:ext cx="8092440" cy="73152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648456"/>
            <a:ext cx="384048" cy="384048"/>
          </a:xfrm>
          <a:prstGeom prst="ellipse">
            <a:avLst/>
          </a:prstGeom>
          <a:solidFill>
            <a:srgbClr val="1B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56616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02020"/>
                </a:solidFill>
                <a:latin typeface="Arial"/>
              </a:rPr>
              <a:t>Send one file in chunks over </a:t>
            </a:r>
            <a:r>
              <a:rPr sz="1600" b="1">
                <a:solidFill>
                  <a:srgbClr val="202020"/>
                </a:solidFill>
                <a:latin typeface="Arial"/>
              </a:rPr>
              <a:t>N parallel TCP paths</a:t>
            </a:r>
            <a:r>
              <a:rPr sz="1600" b="0">
                <a:solidFill>
                  <a:srgbClr val="202020"/>
                </a:solidFill>
                <a:latin typeface="Arial"/>
              </a:rPr>
              <a:t> using a shared work queue.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7" y="4343400"/>
            <a:ext cx="8092440" cy="73152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517136"/>
            <a:ext cx="384048" cy="384048"/>
          </a:xfrm>
          <a:prstGeom prst="ellipse">
            <a:avLst/>
          </a:prstGeom>
          <a:solidFill>
            <a:srgbClr val="1B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43484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02020"/>
                </a:solidFill>
                <a:latin typeface="Arial"/>
              </a:rPr>
              <a:t>Detect corruption</a:t>
            </a:r>
            <a:r>
              <a:rPr sz="1600" b="0">
                <a:solidFill>
                  <a:srgbClr val="202020"/>
                </a:solidFill>
                <a:latin typeface="Arial"/>
              </a:rPr>
              <a:t> (header CRC, chunk and file SHA-256) and repair it by retransmission.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7" y="5212079"/>
            <a:ext cx="8092440" cy="73152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385816"/>
            <a:ext cx="384048" cy="384048"/>
          </a:xfrm>
          <a:prstGeom prst="ellipse">
            <a:avLst/>
          </a:prstGeom>
          <a:solidFill>
            <a:srgbClr val="1B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303519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02020"/>
                </a:solidFill>
                <a:latin typeface="Arial"/>
              </a:rPr>
              <a:t>Survive a dead or silent path</a:t>
            </a:r>
            <a:r>
              <a:rPr sz="1600" b="0">
                <a:solidFill>
                  <a:srgbClr val="202020"/>
                </a:solidFill>
                <a:latin typeface="Arial"/>
              </a:rPr>
              <a:t> and resume interrupted transfers.</a:t>
            </a:r>
          </a:p>
        </p:txBody>
      </p:sp>
    </p:spTree>
    <p:extLst>
      <p:ext uri="{BB962C8B-B14F-4D97-AF65-F5344CB8AC3E}">
        <p14:creationId xmlns:p14="http://schemas.microsoft.com/office/powerpoint/2010/main" val="1771186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2A7FE5-9330-404A-8834-8EE47CC698A1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Proposed Design and Tools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186328-4620-4152-951C-0F6E0B69DF1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BB9F45-CBCF-467D-B76E-7FE236AFBDA0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45 seconds</a:t>
            </a:r>
          </a:p>
        </p:txBody>
      </p:sp>
      <p:pic>
        <p:nvPicPr>
          <p:cNvPr id="7" name="Picture 6" descr="architecture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188720"/>
            <a:ext cx="6035040" cy="29656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21207" y="4343400"/>
            <a:ext cx="2606040" cy="173736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445312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B6B73"/>
                </a:solidFill>
                <a:latin typeface="Arial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4727448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020"/>
                </a:solidFill>
                <a:latin typeface="Arial"/>
              </a:rPr>
              <a:t>Python 3.15, standard library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020"/>
                </a:solidFill>
                <a:latin typeface="Arial"/>
              </a:rPr>
              <a:t>macOS, pytest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020"/>
                </a:solidFill>
                <a:latin typeface="Arial"/>
              </a:rPr>
              <a:t>FastAPI dashboard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020"/>
                </a:solidFill>
                <a:latin typeface="Arial"/>
              </a:rPr>
              <a:t>Wireshark Lua dissector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4408" y="4343400"/>
            <a:ext cx="2606040" cy="173736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445312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B6B73"/>
                </a:solidFill>
                <a:latin typeface="Arial"/>
              </a:rPr>
              <a:t>PROTOCOLS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4727448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020"/>
                </a:solidFill>
                <a:latin typeface="Arial"/>
              </a:rPr>
              <a:t>TCP per path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020"/>
                </a:solidFill>
                <a:latin typeface="Arial"/>
              </a:rPr>
              <a:t>Own 20-byte header + CRC-32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020"/>
                </a:solidFill>
                <a:latin typeface="Arial"/>
              </a:rPr>
              <a:t>SHA-256 per chunk and file </a:t>
            </a:r>
            <a:r>
              <a:rPr sz="1300" b="0">
                <a:solidFill>
                  <a:srgbClr val="202020"/>
                </a:solidFill>
                <a:latin typeface="Arial"/>
              </a:rPr>
              <a:t>[5]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07608" y="4343400"/>
            <a:ext cx="2606040" cy="173736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445312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B6B73"/>
                </a:solidFill>
                <a:latin typeface="Arial"/>
              </a:rPr>
              <a:t>ADDRESSING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4727448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020"/>
                </a:solidFill>
                <a:latin typeface="Arial"/>
              </a:rPr>
              <a:t>Receiver 0.0.0.0:9000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020"/>
                </a:solidFill>
                <a:latin typeface="Arial"/>
              </a:rPr>
              <a:t>Emulated paths 127.0.0.1:9201–9203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020"/>
                </a:solidFill>
                <a:latin typeface="Arial"/>
              </a:rPr>
              <a:t>Dashboard 127.0.0.1:8080</a:t>
            </a:r>
          </a:p>
        </p:txBody>
      </p:sp>
    </p:spTree>
    <p:extLst>
      <p:ext uri="{BB962C8B-B14F-4D97-AF65-F5344CB8AC3E}">
        <p14:creationId xmlns:p14="http://schemas.microsoft.com/office/powerpoint/2010/main" val="2032430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D9CBCB-0357-4DC8-A188-4C37277A96D4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Implementation and Working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8AF794-E3C6-4991-A893-A5574F7F23BE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E311F0-B43D-4984-B7EF-5CED8D55A51E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55 seconds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7" y="1280160"/>
            <a:ext cx="4846320" cy="288036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B6B73"/>
                </a:solidFill>
                <a:latin typeface="Arial"/>
              </a:rPr>
              <a:t>SCHEDULER (WORK STEALING)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4572000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202020"/>
                </a:solidFill>
                <a:latin typeface="Courier New"/>
              </a:rPr>
              <a:t>queue = PriorityQueue()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202020"/>
                </a:solidFill>
                <a:latin typeface="Courier New"/>
              </a:rPr>
              <a:t>path_worker(p):  # 1 thread/path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202020"/>
                </a:solidFill>
                <a:latin typeface="Courier New"/>
              </a:rPr>
              <a:t>  i = queue.get()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202020"/>
                </a:solidFill>
                <a:latin typeface="Courier New"/>
              </a:rPr>
              <a:t>  send CHUNK i, wait &lt;= 5 s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202020"/>
                </a:solidFill>
                <a:latin typeface="Courier New"/>
              </a:rPr>
              <a:t>  ACK  -&gt; record bytes, RTT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202020"/>
                </a:solidFill>
                <a:latin typeface="Courier New"/>
              </a:rPr>
              <a:t>  NACK/timeout/reset -&gt;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202020"/>
                </a:solidFill>
                <a:latin typeface="Courier New"/>
              </a:rPr>
              <a:t>         requeue(i)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202020"/>
                </a:solidFill>
                <a:latin typeface="Courier New"/>
              </a:rPr>
              <a:t>requeue(i): max 5 tries,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202020"/>
                </a:solidFill>
                <a:latin typeface="Courier New"/>
              </a:rPr>
              <a:t>  backoff, retry goes 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280160"/>
            <a:ext cx="3035808" cy="288036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3898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B6B73"/>
                </a:solidFill>
                <a:latin typeface="Arial"/>
              </a:rPr>
              <a:t>WORKING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664207"/>
            <a:ext cx="2670048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02020"/>
                </a:solidFill>
                <a:latin typeface="Arial"/>
              </a:rPr>
              <a:t>1</a:t>
            </a:r>
            <a:r>
              <a:rPr sz="1400" b="0">
                <a:solidFill>
                  <a:srgbClr val="202020"/>
                </a:solidFill>
                <a:latin typeface="Arial"/>
              </a:rPr>
              <a:t> Sender hashes file once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02020"/>
                </a:solidFill>
                <a:latin typeface="Arial"/>
              </a:rPr>
              <a:t>2</a:t>
            </a:r>
            <a:r>
              <a:rPr sz="1400" b="0">
                <a:solidFill>
                  <a:srgbClr val="202020"/>
                </a:solidFill>
                <a:latin typeface="Arial"/>
              </a:rPr>
              <a:t> Paths pull chunks from queue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02020"/>
                </a:solidFill>
                <a:latin typeface="Arial"/>
              </a:rPr>
              <a:t>3</a:t>
            </a:r>
            <a:r>
              <a:rPr sz="1400" b="0">
                <a:solidFill>
                  <a:srgbClr val="202020"/>
                </a:solidFill>
                <a:latin typeface="Arial"/>
              </a:rPr>
              <a:t> Receiver checks SHA-256, writes at offset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02020"/>
                </a:solidFill>
                <a:latin typeface="Arial"/>
              </a:rPr>
              <a:t>4</a:t>
            </a:r>
            <a:r>
              <a:rPr sz="1400" b="0">
                <a:solidFill>
                  <a:srgbClr val="202020"/>
                </a:solidFill>
                <a:latin typeface="Arial"/>
              </a:rPr>
              <a:t> Whole-file hash, rename, DONE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7" y="4343400"/>
            <a:ext cx="3931920" cy="173736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45312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B6B73"/>
                </a:solidFill>
                <a:latin typeface="Arial"/>
              </a:rPr>
              <a:t>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727448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02020"/>
                </a:solidFill>
                <a:latin typeface="Arial"/>
              </a:rPr>
              <a:t>protocol.py, sender.py, receiver.py, emulator.py, status.py (about 970 lines)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02020"/>
                </a:solidFill>
                <a:latin typeface="Arial"/>
              </a:rPr>
              <a:t>Dashboard in web/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4343400"/>
            <a:ext cx="3950208" cy="1737360"/>
          </a:xfrm>
          <a:prstGeom prst="roundRect">
            <a:avLst>
              <a:gd name="adj" fmla="val 4000"/>
            </a:avLst>
          </a:prstGeom>
          <a:solidFill>
            <a:srgbClr val="1B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4453128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TROUBLESHOOTING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727448"/>
            <a:ext cx="358444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Recovery took 6.9 s: retries waited behind fresh chunks.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Fix:</a:t>
            </a:r>
            <a:r>
              <a:rPr sz="1300" b="0">
                <a:solidFill>
                  <a:srgbClr val="FFFFFF"/>
                </a:solidFill>
                <a:latin typeface="Arial"/>
              </a:rPr>
              <a:t> priority queue, retries first. </a:t>
            </a:r>
            <a:r>
              <a:rPr sz="1300" b="1">
                <a:solidFill>
                  <a:srgbClr val="FFFFFF"/>
                </a:solidFill>
                <a:latin typeface="Arial"/>
              </a:rPr>
              <a:t>Result:</a:t>
            </a:r>
            <a:r>
              <a:rPr sz="1300" b="0">
                <a:solidFill>
                  <a:srgbClr val="FFFFFF"/>
                </a:solidFill>
                <a:latin typeface="Arial"/>
              </a:rPr>
              <a:t> 0.15 s.</a:t>
            </a:r>
          </a:p>
        </p:txBody>
      </p:sp>
    </p:spTree>
    <p:extLst>
      <p:ext uri="{BB962C8B-B14F-4D97-AF65-F5344CB8AC3E}">
        <p14:creationId xmlns:p14="http://schemas.microsoft.com/office/powerpoint/2010/main" val="450783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17C623-7343-44B1-AA4A-D1B4C258A90F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Testing and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B9A461-CBBC-4245-813A-D1367A360BC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353FE9-3343-4C54-947B-8EB6CA4BD4B2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50 seconds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21207" y="1188720"/>
          <a:ext cx="3931920" cy="2606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8" name="Picture 7" descr="recovery_tim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234440"/>
            <a:ext cx="4023360" cy="229906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21207" y="4023360"/>
            <a:ext cx="3977639" cy="100584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4133088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B6B73"/>
                </a:solidFill>
                <a:latin typeface="Arial"/>
              </a:rPr>
              <a:t>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4407408"/>
            <a:ext cx="36118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02020"/>
                </a:solidFill>
                <a:latin typeface="Arial"/>
              </a:rPr>
              <a:t>50 MB file, 40 Mbit/s paths: 1–8 paths; path 2 killed at 1.5 s; 0/1/5 % corrupted chunks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36008" y="4023360"/>
            <a:ext cx="3977639" cy="100584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4133088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B6B73"/>
                </a:solidFill>
                <a:latin typeface="Arial"/>
              </a:rPr>
              <a:t>EXPECTED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4407408"/>
            <a:ext cx="36118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02020"/>
                </a:solidFill>
                <a:latin typeface="Arial"/>
              </a:rPr>
              <a:t>Goodput grows with paths; hash matches after failure or corruption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7" y="5120640"/>
            <a:ext cx="3977639" cy="100584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230368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B6B73"/>
                </a:solidFill>
                <a:latin typeface="Arial"/>
              </a:rPr>
              <a:t>OBSERVED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504688"/>
            <a:ext cx="36118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02020"/>
                </a:solidFill>
                <a:latin typeface="Arial"/>
              </a:rPr>
              <a:t>23.0 to 171.9 Mbit/s; failure run succeeded, recovery 0.15 s; 5 % corruption: 12 of 200 chunks resent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36008" y="5120640"/>
            <a:ext cx="3977639" cy="100584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18888" y="5230368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B6B73"/>
                </a:solidFill>
                <a:latin typeface="Arial"/>
              </a:rPr>
              <a:t>OBJECTIVES ACHIEVED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5504688"/>
            <a:ext cx="36118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02020"/>
                </a:solidFill>
                <a:latin typeface="Arial"/>
              </a:rPr>
              <a:t>O1–O5. 50 automated tests passed (1 skipped)</a:t>
            </a:r>
          </a:p>
        </p:txBody>
      </p:sp>
    </p:spTree>
    <p:extLst>
      <p:ext uri="{BB962C8B-B14F-4D97-AF65-F5344CB8AC3E}">
        <p14:creationId xmlns:p14="http://schemas.microsoft.com/office/powerpoint/2010/main" val="121407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B6F581-D019-4446-9B09-873266454C32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Working Demonstration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7B2C0-778B-420B-9AC8-791FED994D01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A4A980-7EF8-4344-9A96-EEAF374C7B47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65 seconds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1280160"/>
            <a:ext cx="8092440" cy="91440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B6B73"/>
                </a:solidFill>
                <a:latin typeface="Arial"/>
              </a:rPr>
              <a:t>FUNCTION TO DEMONSTRATE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02020"/>
                </a:solidFill>
                <a:latin typeface="Arial"/>
              </a:rPr>
              <a:t>Send a file over 3 emulated paths while one path dies; the receiver still gets a verified file.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7" y="2377440"/>
            <a:ext cx="8092440" cy="86868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2615184"/>
            <a:ext cx="384048" cy="384048"/>
          </a:xfrm>
          <a:prstGeom prst="ellipse">
            <a:avLst/>
          </a:prstGeom>
          <a:solidFill>
            <a:srgbClr val="1B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468880"/>
            <a:ext cx="7132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02020"/>
                </a:solidFill>
                <a:latin typeface="Arial"/>
              </a:rPr>
              <a:t>Launch:</a:t>
            </a:r>
            <a:r>
              <a:rPr sz="1400" b="0">
                <a:solidFill>
                  <a:srgbClr val="202020"/>
                </a:solidFill>
                <a:latin typeface="Arial"/>
              </a:rPr>
              <a:t> Start receiver, emulator (3 paths, one dies at 6 s) and dashboard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  <a:latin typeface="Courier New"/>
              </a:rPr>
              <a:t>mpft receive  |  mpft emulate  |  mpft 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7" y="3383280"/>
            <a:ext cx="8092440" cy="86868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3621024"/>
            <a:ext cx="384048" cy="384048"/>
          </a:xfrm>
          <a:prstGeom prst="ellipse">
            <a:avLst/>
          </a:prstGeom>
          <a:solidFill>
            <a:srgbClr val="1B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474720"/>
            <a:ext cx="7132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02020"/>
                </a:solidFill>
                <a:latin typeface="Arial"/>
              </a:rPr>
              <a:t>Send:</a:t>
            </a:r>
            <a:r>
              <a:rPr sz="1400" b="0">
                <a:solidFill>
                  <a:srgbClr val="202020"/>
                </a:solidFill>
                <a:latin typeface="Arial"/>
              </a:rPr>
              <a:t> Run the transfer over the three paths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  <a:latin typeface="Courier New"/>
              </a:rPr>
              <a:t>mpft send big.bin --to 127.0.0.1:9201,...:9202,...:9203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7" y="4389120"/>
            <a:ext cx="8092440" cy="86868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4626864"/>
            <a:ext cx="384048" cy="384048"/>
          </a:xfrm>
          <a:prstGeom prst="ellipse">
            <a:avLst/>
          </a:prstGeom>
          <a:solidFill>
            <a:srgbClr val="1B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480560"/>
            <a:ext cx="7132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02020"/>
                </a:solidFill>
                <a:latin typeface="Arial"/>
              </a:rPr>
              <a:t>Show:</a:t>
            </a:r>
            <a:r>
              <a:rPr sz="1400" b="0">
                <a:solidFill>
                  <a:srgbClr val="202020"/>
                </a:solidFill>
                <a:latin typeface="Arial"/>
              </a:rPr>
              <a:t> Watch the dashboard: path 2 goes down, its chunk is resent on another path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  <a:latin typeface="Courier New"/>
              </a:rPr>
              <a:t>hash status turns verified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7" y="5440680"/>
            <a:ext cx="8092440" cy="731520"/>
          </a:xfrm>
          <a:prstGeom prst="roundRect">
            <a:avLst>
              <a:gd name="adj" fmla="val 4000"/>
            </a:avLst>
          </a:prstGeom>
          <a:solidFill>
            <a:srgbClr val="1B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7680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Success criterion:</a:t>
            </a:r>
            <a:r>
              <a:rPr sz="1400" b="0">
                <a:solidFill>
                  <a:srgbClr val="FFFFFF"/>
                </a:solidFill>
                <a:latin typeface="Arial"/>
              </a:rPr>
              <a:t> sender reports success, a path is marked dead, 1 or more retransmissions, and the output SHA-256 equals the input's.</a:t>
            </a:r>
          </a:p>
        </p:txBody>
      </p:sp>
    </p:spTree>
    <p:extLst>
      <p:ext uri="{BB962C8B-B14F-4D97-AF65-F5344CB8AC3E}">
        <p14:creationId xmlns:p14="http://schemas.microsoft.com/office/powerpoint/2010/main" val="12328504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ectangle 7">
            <a:extLst>
              <a:ext uri="{FF2B5EF4-FFF2-40B4-BE49-F238E27FC236}">
                <a16:creationId xmlns:a16="http://schemas.microsoft.com/office/drawing/2014/main" id="{3AB6F581-D019-4446-9B09-873266454C32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Views and Scenarios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7B2C0-778B-420B-9AC8-791FED994D01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A4A980-7EF8-4344-9A96-EEAF374C7B47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35 seconds</a:t>
            </a:r>
          </a:p>
        </p:txBody>
      </p:sp>
      <p:pic>
        <p:nvPicPr>
          <p:cNvPr id="9" name="Picture 8" descr="scn_s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250000"/>
            <a:ext cx="4000000" cy="3032258"/>
          </a:xfrm>
          <a:prstGeom prst="rect">
            <a:avLst/>
          </a:prstGeom>
        </p:spPr>
      </p:pic>
      <p:pic>
        <p:nvPicPr>
          <p:cNvPr id="10" name="Picture 9" descr="scn_recei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875" y="1250000"/>
            <a:ext cx="4000000" cy="303225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3875" y="4322258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6324F"/>
                </a:solidFill>
              </a:rPr>
              <a:t>Sender: Delivered, send another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875" y="4322258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6324F"/>
                </a:solidFill>
              </a:rPr>
              <a:t>Receiver: verified, Download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875" y="4652258"/>
            <a:ext cx="81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6324F"/>
                </a:solidFill>
              </a:rPr>
              <a:t>Eight scenarios: clean, slow, asymmetric, lossy, heavy loss, path failure, path flap, total failure (nothing saved, no download).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875" y="5122258"/>
            <a:ext cx="81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6324F"/>
                </a:solidFill>
              </a:rPr>
              <a:t>Graphs now use real time: throughput from chunk completions, millisecond axis under 2 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465B80-86A3-4988-8BBF-D6C889F03087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Conclusion and Contributions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5C3C1D-1A36-4479-B48D-72AED4C5126A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033241-AA33-4209-9B79-B06A3DA63F84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30 seconds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" y="1280160"/>
            <a:ext cx="3977639" cy="128016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389888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B6B73"/>
                </a:solidFill>
                <a:latin typeface="Arial"/>
              </a:rP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64207"/>
            <a:ext cx="3611879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02020"/>
                </a:solidFill>
                <a:latin typeface="Arial"/>
              </a:rPr>
              <a:t>Working multipath transfer with chunk and file verification, failure recovery and resume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6008" y="1280160"/>
            <a:ext cx="3977639" cy="128016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1389888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B6B73"/>
                </a:solidFill>
                <a:latin typeface="Arial"/>
              </a:rPr>
              <a:t>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1664207"/>
            <a:ext cx="3611879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02020"/>
                </a:solidFill>
                <a:latin typeface="Arial"/>
              </a:rPr>
              <a:t>Large files over several links (Wi-Fi plus Ethernet, LAN plus VPN)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7" y="2651760"/>
            <a:ext cx="3977639" cy="128016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761488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B6B73"/>
                </a:solidFill>
                <a:latin typeface="Arial"/>
              </a:rPr>
              <a:t>LIMITATION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035808"/>
            <a:ext cx="3611879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02020"/>
                </a:solidFill>
                <a:latin typeface="Arial"/>
              </a:rPr>
              <a:t>One chunk in flight per path; tested on emulated paths on one machine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36008" y="2651760"/>
            <a:ext cx="3977639" cy="128016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18888" y="2761488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B6B73"/>
                </a:solidFill>
                <a:latin typeface="Arial"/>
              </a:rPr>
              <a:t>FUTURE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3035808"/>
            <a:ext cx="3611879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02020"/>
                </a:solidFill>
                <a:latin typeface="Arial"/>
              </a:rPr>
              <a:t>Sliding window per path; real two-machine test with Wireshark captures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7" y="4114800"/>
            <a:ext cx="8092440" cy="128016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B6B73"/>
                </a:solidFill>
                <a:latin typeface="Arial"/>
              </a:rPr>
              <a:t>TEAM CONTRIBUTIONS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26280"/>
            <a:ext cx="2600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02020"/>
                </a:solidFill>
                <a:latin typeface="Arial"/>
              </a:rPr>
              <a:t>Saksham Singh Sisodiya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202020"/>
                </a:solidFill>
                <a:latin typeface="Arial"/>
              </a:rPr>
              <a:t>Protocol, sender, receiver, resume, web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1520" y="4526280"/>
            <a:ext cx="2600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02020"/>
                </a:solidFill>
                <a:latin typeface="Arial"/>
              </a:rPr>
              <a:t>Parth Dande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202020"/>
                </a:solidFill>
                <a:latin typeface="Arial"/>
              </a:rPr>
              <a:t>Emulator, experiments,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1520" y="4526280"/>
            <a:ext cx="2600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02020"/>
                </a:solidFill>
                <a:latin typeface="Arial"/>
              </a:rPr>
              <a:t>Anupria Gupta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202020"/>
                </a:solidFill>
                <a:latin typeface="Arial"/>
              </a:rPr>
              <a:t>Wireshark, dashboard views, test report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7" y="5532120"/>
            <a:ext cx="8092440" cy="64008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02020"/>
                </a:solidFill>
                <a:latin typeface="Arial"/>
              </a:rPr>
              <a:t>AI use:</a:t>
            </a:r>
            <a:r>
              <a:rPr sz="1250" b="0">
                <a:solidFill>
                  <a:srgbClr val="202020"/>
                </a:solidFill>
                <a:latin typeface="Arial"/>
              </a:rPr>
              <a:t> Claude Code helped write code, tests and documents; all results come from running the code.</a:t>
            </a:r>
          </a:p>
        </p:txBody>
      </p:sp>
    </p:spTree>
    <p:extLst>
      <p:ext uri="{BB962C8B-B14F-4D97-AF65-F5344CB8AC3E}">
        <p14:creationId xmlns:p14="http://schemas.microsoft.com/office/powerpoint/2010/main" val="2125721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B87E46F-E649-4EC2-BE15-E3DC1B512D09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8BC680-DAE1-4C4A-B29D-BFCE9D74EB15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37739-9035-4330-B6E1-0CD991043B34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Backup 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7" y="1325880"/>
            <a:ext cx="8092440" cy="356616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7589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020"/>
                </a:solidFill>
                <a:latin typeface="Arial"/>
              </a:rPr>
              <a:t>[1]</a:t>
            </a:r>
            <a:r>
              <a:rPr sz="1500" b="0">
                <a:solidFill>
                  <a:srgbClr val="202020"/>
                </a:solidFill>
                <a:latin typeface="Arial"/>
              </a:rPr>
              <a:t>  J. Eddy, “Transmission Control Protocol (TCP),” RFC 9293, IETF, 2022.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020"/>
                </a:solidFill>
                <a:latin typeface="Arial"/>
              </a:rPr>
              <a:t>[2]</a:t>
            </a:r>
            <a:r>
              <a:rPr sz="1500" b="0">
                <a:solidFill>
                  <a:srgbClr val="202020"/>
                </a:solidFill>
                <a:latin typeface="Arial"/>
              </a:rPr>
              <a:t>  M. Allman, V. Paxson and E. Blanton, “TCP Congestion Control,” RFC 5681, IETF, 2009.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020"/>
                </a:solidFill>
                <a:latin typeface="Arial"/>
              </a:rPr>
              <a:t>[3]</a:t>
            </a:r>
            <a:r>
              <a:rPr sz="1500" b="0">
                <a:solidFill>
                  <a:srgbClr val="202020"/>
                </a:solidFill>
                <a:latin typeface="Arial"/>
              </a:rPr>
              <a:t>  A. Ford et al., “TCP Extensions for Multipath Operation with Multiple Addresses,” RFC 8684, IETF, 2020.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020"/>
                </a:solidFill>
                <a:latin typeface="Arial"/>
              </a:rPr>
              <a:t>[4]</a:t>
            </a:r>
            <a:r>
              <a:rPr sz="1500" b="0">
                <a:solidFill>
                  <a:srgbClr val="202020"/>
                </a:solidFill>
                <a:latin typeface="Arial"/>
              </a:rPr>
              <a:t>  C. Raiciu et al., “How hard can it be? Designing and implementing a deployable Multipath TCP,” USENIX NSDI, 2012.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020"/>
                </a:solidFill>
                <a:latin typeface="Arial"/>
              </a:rPr>
              <a:t>[5]</a:t>
            </a:r>
            <a:r>
              <a:rPr sz="1500" b="0">
                <a:solidFill>
                  <a:srgbClr val="202020"/>
                </a:solidFill>
                <a:latin typeface="Arial"/>
              </a:rPr>
              <a:t>  NIST, “Secure Hash Standard (SHS),” FIPS PUB 180-4, 2015.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5120640"/>
            <a:ext cx="8092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Cited on slides 2–3: TCP </a:t>
            </a:r>
            <a:r>
              <a:rPr sz="1200" b="0">
                <a:solidFill>
                  <a:srgbClr val="555555"/>
                </a:solidFill>
                <a:latin typeface="Arial"/>
              </a:rPr>
              <a:t>[1]</a:t>
            </a:r>
            <a:r>
              <a:rPr sz="1200" b="0">
                <a:solidFill>
                  <a:srgbClr val="555555"/>
                </a:solidFill>
                <a:latin typeface="Arial"/>
              </a:rPr>
              <a:t>[2]</a:t>
            </a:r>
            <a:r>
              <a:rPr sz="1200" b="0">
                <a:solidFill>
                  <a:srgbClr val="555555"/>
                </a:solidFill>
                <a:latin typeface="Arial"/>
              </a:rPr>
              <a:t>, multipath background </a:t>
            </a:r>
            <a:r>
              <a:rPr sz="1200" b="0">
                <a:solidFill>
                  <a:srgbClr val="555555"/>
                </a:solidFill>
                <a:latin typeface="Arial"/>
              </a:rPr>
              <a:t>[3]</a:t>
            </a:r>
            <a:r>
              <a:rPr sz="1200" b="0">
                <a:solidFill>
                  <a:srgbClr val="555555"/>
                </a:solidFill>
                <a:latin typeface="Arial"/>
              </a:rPr>
              <a:t>[4]</a:t>
            </a:r>
            <a:r>
              <a:rPr sz="1200" b="0">
                <a:solidFill>
                  <a:srgbClr val="555555"/>
                </a:solidFill>
                <a:latin typeface="Arial"/>
              </a:rPr>
              <a:t>, SHA-256 </a:t>
            </a:r>
            <a:r>
              <a:rPr sz="1200" b="0">
                <a:solidFill>
                  <a:srgbClr val="555555"/>
                </a:solidFill>
                <a:latin typeface="Arial"/>
              </a:rPr>
              <a:t>[5]</a:t>
            </a:r>
            <a:r>
              <a:rPr sz="1200" b="0">
                <a:solidFill>
                  <a:srgbClr val="555555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95467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911</Words>
  <Application>Microsoft Office PowerPoint</Application>
  <DocSecurity>0</DocSecurity>
  <PresentationFormat>On-screen Show (4:3)</PresentationFormat>
  <Paragraphs>80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MPFT: Multipath Reliable File Transfer</dc:title>
  <dc:creator>Saksham Singh Sisodiya, Parth Dande</dc:creator>
  <cp:lastModifiedBy>Swati</cp:lastModifiedBy>
  <cp:revision>1</cp:revision>
  <dcterms:created xsi:type="dcterms:W3CDTF">2026-10-14T10:56:48Z</dcterms:created>
  <dcterms:modified xsi:type="dcterms:W3CDTF">2026-10-15T04:36:00Z</dcterms:modified>
</cp:coreProperties>
</file>